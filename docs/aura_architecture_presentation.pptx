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phone_ai_1780427997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"/>
            <a:ext cx="5943600" cy="6309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iQOO HACKATHON 2026  •  AGENTKIT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00" b="1">
                <a:solidFill>
                  <a:srgbClr val="F0F0F5"/>
                </a:solidFill>
                <a:latin typeface="Segoe UI"/>
              </a:defRPr>
            </a:pPr>
            <a:r>
              <a:t>AURA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0">
                <a:solidFill>
                  <a:srgbClr val="A0A5B9"/>
                </a:solidFill>
                <a:latin typeface="Segoe UI"/>
              </a:defRPr>
            </a:pPr>
            <a:r>
              <a:t>The First Privacy-First</a:t>
            </a:r>
            <a:br/>
            <a:r>
              <a:t>Academic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2286000" cy="54864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A0A5B9"/>
                </a:solidFill>
                <a:latin typeface="Segoe UI"/>
              </a:defRPr>
            </a:pPr>
            <a:r>
              <a:t>On-Device Intelligence  •  Zero Cloud  •  100%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The ₹0 Student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32918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291840" cy="91440"/>
          </a:xfrm>
          <a:prstGeom prst="rect">
            <a:avLst/>
          </a:prstGeom>
          <a:solidFill>
            <a:srgbClr val="FF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0">
                <a:solidFill>
                  <a:srgbClr val="F0F0F5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6478"/>
                </a:solidFill>
                <a:latin typeface="Segoe UI"/>
              </a:defRPr>
            </a:pPr>
            <a:r>
              <a:t>No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A0A5B9"/>
                </a:solidFill>
                <a:latin typeface="Segoe UI"/>
              </a:defRPr>
            </a:pPr>
            <a:r>
              <a:t>68% of Indian classrooms</a:t>
            </a:r>
            <a:br/>
            <a:r>
              <a:t>have unreliable connectivity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286000"/>
            <a:ext cx="32918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286000"/>
            <a:ext cx="3291840" cy="9144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0">
                <a:solidFill>
                  <a:srgbClr val="F0F0F5"/>
                </a:solidFill>
                <a:latin typeface="Segoe UI"/>
              </a:defRPr>
            </a:pPr>
            <a: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3832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C850"/>
                </a:solidFill>
                <a:latin typeface="Segoe UI"/>
              </a:defRPr>
            </a:pPr>
            <a:r>
              <a:t>No Subscriptions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1148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A0A5B9"/>
                </a:solidFill>
                <a:latin typeface="Segoe UI"/>
              </a:defRPr>
            </a:pPr>
            <a:r>
              <a:t>₹1,700/mo for ChatGPT Plus.</a:t>
            </a:r>
            <a:br/>
            <a:r>
              <a:t>Avg student budget: ₹0 for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2918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291840" cy="91440"/>
          </a:xfrm>
          <a:prstGeom prst="rect">
            <a:avLst/>
          </a:prstGeom>
          <a:solidFill>
            <a:srgbClr val="B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0">
                <a:solidFill>
                  <a:srgbClr val="F0F0F5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B482FF"/>
                </a:solidFill>
                <a:latin typeface="Segoe UI"/>
              </a:defRPr>
            </a:pPr>
            <a:r>
              <a:t>No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11480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A0A5B9"/>
                </a:solidFill>
                <a:latin typeface="Segoe UI"/>
              </a:defRPr>
            </a:pPr>
            <a:r>
              <a:t>Every upload trains someone</a:t>
            </a:r>
            <a:br/>
            <a:r>
              <a:t>else's model on your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Why Existing AI Fails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A0A0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6472" y="23317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A0A0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8424" y="23317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A0A0F"/>
                </a:solidFill>
                <a:latin typeface="Segoe UI"/>
              </a:defRPr>
            </a:pPr>
            <a: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0376" y="23317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A0A0F"/>
                </a:solidFill>
                <a:latin typeface="Segoe UI"/>
              </a:defRPr>
            </a:pPr>
            <a:r>
              <a:t>Notion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2328" y="23317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0A0A0F"/>
                </a:solidFill>
                <a:latin typeface="Segoe UI"/>
              </a:defRPr>
            </a:pPr>
            <a:r>
              <a:t>AURA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Works Offline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8424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30168"/>
            <a:ext cx="10515600" cy="548640"/>
          </a:xfrm>
          <a:prstGeom prst="rect">
            <a:avLst/>
          </a:prstGeom>
          <a:solidFill>
            <a:srgbClr val="0F1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758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Free Forever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67588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367588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C85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6" y="367588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67588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197096"/>
            <a:ext cx="10515600" cy="54864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4281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On-Device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2" y="424281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8424" y="424281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424281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424281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764024"/>
            <a:ext cx="10515600" cy="548640"/>
          </a:xfrm>
          <a:prstGeom prst="rect">
            <a:avLst/>
          </a:prstGeom>
          <a:solidFill>
            <a:srgbClr val="0F1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80974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Data Stays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480974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78424" y="480974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480974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2328" y="480974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330952"/>
            <a:ext cx="10515600" cy="54864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3766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Live Lecture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6472" y="53766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8424" y="53766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0376" y="53766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82328" y="53766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solidFill>
            <a:srgbClr val="0F1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9436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Segoe UI"/>
              </a:defRPr>
            </a:pPr>
            <a:r>
              <a:t>Auto Scheduling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5943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8424" y="5943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6478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6" y="5943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FFC850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2328" y="5943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82E696"/>
                </a:solidFill>
                <a:latin typeface="Segoe UI"/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The AURA Moment</a:t>
            </a:r>
          </a:p>
        </p:txBody>
      </p:sp>
      <p:pic>
        <p:nvPicPr>
          <p:cNvPr id="4" name="Picture 3" descr="student_journey_1780428011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📖 Enter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🎙️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📝 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🃏 Flashcards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9" y="2103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📅 Schedule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The Hybrid Architecture</a:t>
            </a:r>
          </a:p>
        </p:txBody>
      </p:sp>
      <p:pic>
        <p:nvPicPr>
          <p:cNvPr id="4" name="Picture 3" descr="hybrid_architecture_1780428022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71600" y="5029200"/>
            <a:ext cx="2926080" cy="1554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2926080" cy="73152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64DCF0"/>
                </a:solidFill>
                <a:latin typeface="Segoe UI"/>
              </a:defRPr>
            </a:pPr>
            <a:r>
              <a:t>🧠 Phone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57784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A0A5B9"/>
                </a:solidFill>
                <a:latin typeface="Segoe UI"/>
              </a:defRPr>
            </a:pPr>
            <a:r>
              <a:t>Gemini Nano / Llama 3.2</a:t>
            </a:r>
            <a:br/>
            <a:r>
              <a:t>Speech-to-Text</a:t>
            </a:r>
            <a:br/>
            <a:r>
              <a:t>Context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029200"/>
            <a:ext cx="2926080" cy="1554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5029200"/>
            <a:ext cx="2926080" cy="73152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FFC850"/>
                </a:solidFill>
                <a:latin typeface="Segoe UI"/>
              </a:defRPr>
            </a:pPr>
            <a:r>
              <a:t>🔗 Office Kit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A0A5B9"/>
                </a:solidFill>
                <a:latin typeface="Segoe UI"/>
              </a:defRPr>
            </a:pPr>
            <a:r>
              <a:t>iQOO Office Kit</a:t>
            </a:r>
            <a:br/>
            <a:r>
              <a:t>Local TCP Socket</a:t>
            </a:r>
            <a:br/>
            <a:r>
              <a:t>Real-time Sync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5029200"/>
            <a:ext cx="2926080" cy="1554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5029200"/>
            <a:ext cx="2926080" cy="73152"/>
          </a:xfrm>
          <a:prstGeom prst="rect">
            <a:avLst/>
          </a:prstGeom>
          <a:solidFill>
            <a:srgbClr val="82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82E696"/>
                </a:solidFill>
                <a:latin typeface="Segoe UI"/>
              </a:defRPr>
            </a:pPr>
            <a:r>
              <a:t>💻 Laptop Muscle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557784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A0A5B9"/>
                </a:solidFill>
                <a:latin typeface="Segoe UI"/>
              </a:defRPr>
            </a:pPr>
            <a:r>
              <a:t>FastAPI Server</a:t>
            </a:r>
            <a:br/>
            <a:r>
              <a:t>FAISS / ChromaDB</a:t>
            </a:r>
            <a:br/>
            <a:r>
              <a:t>PDF Vectorization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Live Demo Flow</a:t>
            </a:r>
          </a:p>
        </p:txBody>
      </p:sp>
      <p:pic>
        <p:nvPicPr>
          <p:cNvPr id="4" name="Picture 3" descr="phone_mockup_app_17804280521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45920"/>
            <a:ext cx="6675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0116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Segoe UI"/>
              </a:defRPr>
            </a:pPr>
            <a:r>
              <a:t>Open Aura during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Segoe UI"/>
              </a:defRPr>
            </a:pPr>
            <a:r>
              <a:t>Tap Record — live STT begins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Segoe UI"/>
              </a:defRPr>
            </a:pPr>
            <a:r>
              <a:t>AI extracts key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Segoe UI"/>
              </a:defRPr>
            </a:pPr>
            <a:r>
              <a:t>Auto-generates flashcards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Segoe UI"/>
              </a:defRPr>
            </a:pPr>
            <a:r>
              <a:t>Schedules revision in calendar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WHAT MAKES US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Innovation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26060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2606040" cy="91440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0">
                <a:solidFill>
                  <a:srgbClr val="F0F0F5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64DCF0"/>
                </a:solidFill>
                <a:latin typeface="Segoe UI"/>
              </a:defRPr>
            </a:pPr>
            <a:r>
              <a:t>On-Device Gemini Nano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A0A5B9"/>
                </a:solidFill>
                <a:latin typeface="Segoe UI"/>
              </a:defRPr>
            </a:pPr>
            <a:r>
              <a:t>First student app running Google's on-device foundation model for instant, private inference.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79" y="2286000"/>
            <a:ext cx="26060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79" y="2286000"/>
            <a:ext cx="2606040" cy="91440"/>
          </a:xfrm>
          <a:prstGeom prst="rect">
            <a:avLst/>
          </a:prstGeom>
          <a:solidFill>
            <a:srgbClr val="B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2651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0">
                <a:solidFill>
                  <a:srgbClr val="F0F0F5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32918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482FF"/>
                </a:solidFill>
                <a:latin typeface="Segoe UI"/>
              </a:defRPr>
            </a:pPr>
            <a:r>
              <a:t>Deep Context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393192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A0A5B9"/>
                </a:solidFill>
                <a:latin typeface="Segoe UI"/>
              </a:defRPr>
            </a:pPr>
            <a:r>
              <a:t>Fuses location, calendar, class schedule, and usage patterns into a single intelligence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26060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2606040" cy="91440"/>
          </a:xfrm>
          <a:prstGeom prst="rect">
            <a:avLst/>
          </a:prstGeom>
          <a:solidFill>
            <a:srgbClr val="82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51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0">
                <a:solidFill>
                  <a:srgbClr val="F0F0F5"/>
                </a:solidFill>
                <a:latin typeface="Segoe UI"/>
              </a:defRPr>
            </a:pPr>
            <a:r>
              <a:t>✈️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82E696"/>
                </a:solidFill>
                <a:latin typeface="Segoe UI"/>
              </a:defRPr>
            </a:pPr>
            <a:r>
              <a:t>Fully Offline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A0A5B9"/>
                </a:solidFill>
                <a:latin typeface="Segoe UI"/>
              </a:defRPr>
            </a:pPr>
            <a:r>
              <a:t>Core features work in airplane mode. No internet, no compromise, no data leaks.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286000"/>
            <a:ext cx="2606040" cy="384048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286000"/>
            <a:ext cx="2606040" cy="9144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651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0">
                <a:solidFill>
                  <a:srgbClr val="F0F0F5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C850"/>
                </a:solidFill>
                <a:latin typeface="Segoe UI"/>
              </a:defRPr>
            </a:pPr>
            <a:r>
              <a:t>Hybrid Execution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93192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A0A5B9"/>
                </a:solidFill>
                <a:latin typeface="Segoe UI"/>
              </a:defRPr>
            </a:pPr>
            <a:r>
              <a:t>Seamlessly distributes workloads between phone NPU and laptop GPU via iQOO Office Kit.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Market Opportunity</a:t>
            </a:r>
          </a:p>
        </p:txBody>
      </p:sp>
      <p:pic>
        <p:nvPicPr>
          <p:cNvPr id="4" name="Picture 3" descr="market_students_17804281302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200" b="1">
                <a:solidFill>
                  <a:srgbClr val="64DCF0"/>
                </a:solidFill>
                <a:latin typeface="Segoe UI"/>
              </a:defRPr>
            </a:pPr>
            <a:r>
              <a:t>250M+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A0A5B9"/>
                </a:solidFill>
                <a:latin typeface="Segoe UI"/>
              </a:defRPr>
            </a:pPr>
            <a:r>
              <a:t>Students in India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200" b="1">
                <a:solidFill>
                  <a:srgbClr val="FFC850"/>
                </a:solidFill>
                <a:latin typeface="Segoe UI"/>
              </a:defRPr>
            </a:pPr>
            <a:r>
              <a:t>$15B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5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A0A5B9"/>
                </a:solidFill>
                <a:latin typeface="Segoe UI"/>
              </a:defRPr>
            </a:pPr>
            <a:r>
              <a:t>EdTech TAM by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200" b="1">
                <a:solidFill>
                  <a:srgbClr val="82E696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5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A0A5B9"/>
                </a:solidFill>
                <a:latin typeface="Segoe UI"/>
              </a:defRPr>
            </a:pPr>
            <a:r>
              <a:t>Smartphone penetration</a:t>
            </a:r>
            <a:br/>
            <a:r>
              <a:t>among Indian college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200" b="1">
                <a:solidFill>
                  <a:srgbClr val="FF6478"/>
                </a:solidFill>
                <a:latin typeface="Segoe UI"/>
              </a:defRPr>
            </a:pPr>
            <a:r>
              <a:t>₹0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5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>
                <a:solidFill>
                  <a:srgbClr val="A0A5B9"/>
                </a:solidFill>
                <a:latin typeface="Segoe UI"/>
              </a:defRPr>
            </a:pPr>
            <a:r>
              <a:t>Aura's cost to the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64DCF0"/>
                </a:solidFill>
                <a:latin typeface="Segoe UI"/>
              </a:defRPr>
            </a:pPr>
            <a:r>
              <a:t>PLATFORM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Segoe UI"/>
              </a:defRPr>
            </a:pPr>
            <a:r>
              <a:t>Why iQOO is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96012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" cy="960120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677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677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64DCF0"/>
                </a:solidFill>
                <a:latin typeface="Segoe UI"/>
              </a:defRPr>
            </a:pPr>
            <a:r>
              <a:t>Flagship NPU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51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A0A5B9"/>
                </a:solidFill>
                <a:latin typeface="Segoe UI"/>
              </a:defRPr>
            </a:pPr>
            <a:r>
              <a:t>iQOO's Snapdragon 8 Gen 3 NPU delivers 45 TOPS — enough to run quantized 3B parameter models at conversational speed on-device.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39"/>
            <a:ext cx="10515600" cy="96012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91839"/>
            <a:ext cx="109728" cy="96012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1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64991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FC850"/>
                </a:solidFill>
                <a:latin typeface="Segoe UI"/>
              </a:defRPr>
            </a:pPr>
            <a:r>
              <a:t>iQOO Office Kit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A0A5B9"/>
                </a:solidFill>
                <a:latin typeface="Segoe UI"/>
              </a:defRPr>
            </a:pPr>
            <a:r>
              <a:t>The proprietary Office Kit creates a seamless local TCP bridge between phone and laptop — the backbone of the Hybrid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89120"/>
            <a:ext cx="10515600" cy="96012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89120"/>
            <a:ext cx="109728" cy="960120"/>
          </a:xfrm>
          <a:prstGeom prst="rect">
            <a:avLst/>
          </a:prstGeom>
          <a:solidFill>
            <a:srgbClr val="82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6227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Segoe UI"/>
              </a:defRPr>
            </a:pPr>
            <a:r>
              <a:t>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622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82E696"/>
                </a:solidFill>
                <a:latin typeface="Segoe UI"/>
              </a:defRPr>
            </a:pPr>
            <a:r>
              <a:t>All-Day Battery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46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A0A5B9"/>
                </a:solidFill>
                <a:latin typeface="Segoe UI"/>
              </a:defRPr>
            </a:pPr>
            <a:r>
              <a:t>6000mAh battery ensures Aura runs through back-to-back lectures without power anxiety, unlike competitors.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86400"/>
            <a:ext cx="10515600" cy="960120"/>
          </a:xfrm>
          <a:prstGeom prst="rect">
            <a:avLst/>
          </a:prstGeom>
          <a:solidFill>
            <a:srgbClr val="16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486400"/>
            <a:ext cx="109728" cy="960120"/>
          </a:xfrm>
          <a:prstGeom prst="rect">
            <a:avLst/>
          </a:prstGeom>
          <a:solidFill>
            <a:srgbClr val="B4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595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5595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B482FF"/>
                </a:solidFill>
                <a:latin typeface="Segoe UI"/>
              </a:defRPr>
            </a:pPr>
            <a:r>
              <a:t>Phone-First Philosophy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9436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A0A5B9"/>
                </a:solidFill>
                <a:latin typeface="Segoe UI"/>
              </a:defRPr>
            </a:pPr>
            <a:r>
              <a:t>iQOO's focus on performance-per-rupee matches Aura's mission: premium AI experiences accessible to every student at ₹0.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30552" cy="54864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57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400" b="1">
                <a:solidFill>
                  <a:srgbClr val="F0F0F5"/>
                </a:solidFill>
                <a:latin typeface="Segoe UI"/>
              </a:defRPr>
            </a:pPr>
            <a:r>
              <a:t>"Every student deserves</a:t>
            </a:r>
            <a:br/>
            <a:r>
              <a:t>a private AI companion."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76169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>
                <a:solidFill>
                  <a:srgbClr val="A0A5B9"/>
                </a:solidFill>
                <a:latin typeface="Segoe UI"/>
              </a:defRPr>
            </a:pPr>
            <a:r>
              <a:t>Aura makes it possible — offline, on-device, and completely 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303520"/>
            <a:ext cx="2130552" cy="54864"/>
          </a:xfrm>
          <a:prstGeom prst="rect">
            <a:avLst/>
          </a:prstGeom>
          <a:solidFill>
            <a:srgbClr val="64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577840"/>
            <a:ext cx="76169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64DCF0"/>
                </a:solidFill>
                <a:latin typeface="Segoe UI"/>
              </a:defRPr>
            </a:pPr>
            <a:r>
              <a:t>AURA  •  AgentKit  •  iQOO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